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  <p:embeddedFont>
      <p:font typeface="Aptos Italics" charset="1" panose="020B00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6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5763" cy="10295039"/>
            <a:chOff x="0" y="0"/>
            <a:chExt cx="1016768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774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167747">
                  <a:moveTo>
                    <a:pt x="0" y="0"/>
                  </a:moveTo>
                  <a:lnTo>
                    <a:pt x="10167747" y="0"/>
                  </a:lnTo>
                  <a:lnTo>
                    <a:pt x="1016774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80002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548469"/>
            <a:ext cx="6710677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b="true" sz="2499" spc="-1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Case Study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1095375"/>
            <a:ext cx="6214996" cy="469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7"/>
              </a:lnSpc>
            </a:pPr>
            <a:r>
              <a:rPr lang="en-US" sz="6999" spc="-13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Supermarket Sales Data Analysis and Customer Insights Using 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5095" y="6195946"/>
            <a:ext cx="6214996" cy="185880"/>
            <a:chOff x="0" y="0"/>
            <a:chExt cx="8286661" cy="24784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286623" cy="247904"/>
            </a:xfrm>
            <a:custGeom>
              <a:avLst/>
              <a:gdLst/>
              <a:ahLst/>
              <a:cxnLst/>
              <a:rect r="r" b="b" t="t" l="l"/>
              <a:pathLst>
                <a:path h="247904" w="8286623">
                  <a:moveTo>
                    <a:pt x="0" y="0"/>
                  </a:moveTo>
                  <a:lnTo>
                    <a:pt x="8286623" y="0"/>
                  </a:lnTo>
                  <a:lnTo>
                    <a:pt x="8286623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0" r="-40" b="2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7255" y="6696151"/>
            <a:ext cx="6710677" cy="233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Student Name: N. Mukunda Rao</a:t>
            </a:r>
          </a:p>
          <a:p>
            <a:pPr algn="l">
              <a:lnSpc>
                <a:spcPts val="4633"/>
              </a:lnSpc>
            </a:pPr>
            <a:r>
              <a:rPr lang="en-US" sz="3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Roll No           : 160124771051</a:t>
            </a:r>
          </a:p>
          <a:p>
            <a:pPr algn="l">
              <a:lnSpc>
                <a:spcPts val="4633"/>
              </a:lnSpc>
            </a:pPr>
            <a:r>
              <a:rPr lang="en-US" sz="3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Course           : Artificial Intelligence</a:t>
            </a:r>
          </a:p>
          <a:p>
            <a:pPr algn="l">
              <a:lnSpc>
                <a:spcPts val="4633"/>
              </a:lnSpc>
            </a:pPr>
            <a:r>
              <a:rPr lang="en-US" sz="3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             and Data Science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5772" y="0"/>
            <a:ext cx="10676077" cy="10295039"/>
            <a:chOff x="0" y="0"/>
            <a:chExt cx="14234770" cy="1372671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423479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4234795">
                  <a:moveTo>
                    <a:pt x="0" y="0"/>
                  </a:moveTo>
                  <a:lnTo>
                    <a:pt x="14234795" y="0"/>
                  </a:lnTo>
                  <a:lnTo>
                    <a:pt x="14234795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t="0" r="-23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333" y="0"/>
            <a:ext cx="7633516" cy="10295039"/>
            <a:chOff x="0" y="0"/>
            <a:chExt cx="10178021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017803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178034">
                  <a:moveTo>
                    <a:pt x="0" y="0"/>
                  </a:moveTo>
                  <a:lnTo>
                    <a:pt x="10178034" y="0"/>
                  </a:lnTo>
                  <a:lnTo>
                    <a:pt x="1017803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t="0" r="-1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1913773"/>
            <a:ext cx="5065415" cy="113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3145707"/>
            <a:ext cx="8151971" cy="185880"/>
            <a:chOff x="0" y="0"/>
            <a:chExt cx="10869295" cy="2478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0869295" cy="247904"/>
            </a:xfrm>
            <a:custGeom>
              <a:avLst/>
              <a:gdLst/>
              <a:ahLst/>
              <a:cxnLst/>
              <a:rect r="r" b="b" t="t" l="l"/>
              <a:pathLst>
                <a:path h="247904" w="10869295">
                  <a:moveTo>
                    <a:pt x="0" y="0"/>
                  </a:moveTo>
                  <a:lnTo>
                    <a:pt x="10869295" y="0"/>
                  </a:lnTo>
                  <a:lnTo>
                    <a:pt x="10869295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" t="0" r="-77" b="2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5095" y="3493713"/>
            <a:ext cx="8151971" cy="504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Supermarkets generate large volumes of transaction data containing information about customers, products, sales, payments, and ratings. Analyzing this data can help understand purchasing patterns and supermarket performance.</a:t>
            </a:r>
          </a:p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R will be used for data cleaning, analysis, visualization, and extracting useful insights.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641" y="561499"/>
            <a:ext cx="16471659" cy="107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</a:pPr>
            <a:r>
              <a:rPr lang="en-US" sz="9607" spc="-192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7641" y="1896993"/>
            <a:ext cx="16471659" cy="185880"/>
            <a:chOff x="0" y="0"/>
            <a:chExt cx="21962212" cy="24784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1962238" cy="247904"/>
            </a:xfrm>
            <a:custGeom>
              <a:avLst/>
              <a:gdLst/>
              <a:ahLst/>
              <a:cxnLst/>
              <a:rect r="r" b="b" t="t" l="l"/>
              <a:pathLst>
                <a:path h="247904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2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87641" y="2741910"/>
            <a:ext cx="16471659" cy="349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33"/>
              </a:lnSpc>
              <a:buFont typeface="Arial"/>
              <a:buChar char="•"/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Analyze supermarket sales and customer transaction data.</a:t>
            </a:r>
          </a:p>
          <a:p>
            <a:pPr algn="l" marL="712470" indent="-356235" lvl="1">
              <a:lnSpc>
                <a:spcPts val="4633"/>
              </a:lnSpc>
              <a:buFont typeface="Arial"/>
              <a:buChar char="•"/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Identify important sales and purchasing patterns.</a:t>
            </a:r>
          </a:p>
          <a:p>
            <a:pPr algn="l" marL="712470" indent="-356235" lvl="1">
              <a:lnSpc>
                <a:spcPts val="4633"/>
              </a:lnSpc>
              <a:buFont typeface="Arial"/>
              <a:buChar char="•"/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Compare performance across products, branches, and customers.</a:t>
            </a:r>
          </a:p>
          <a:p>
            <a:pPr algn="l" marL="712470" indent="-356235" lvl="1">
              <a:lnSpc>
                <a:spcPts val="4633"/>
              </a:lnSpc>
              <a:buFont typeface="Arial"/>
              <a:buChar char="•"/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Understand customer preferences and buying behavior.</a:t>
            </a:r>
          </a:p>
          <a:p>
            <a:pPr algn="l" marL="712470" indent="-356235" lvl="1">
              <a:lnSpc>
                <a:spcPts val="4633"/>
              </a:lnSpc>
              <a:buFont typeface="Arial"/>
              <a:buChar char="•"/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Use R to analyze the data and generate meaningful insights.</a:t>
            </a:r>
          </a:p>
          <a:p>
            <a:pPr algn="l">
              <a:lnSpc>
                <a:spcPts val="463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1054560"/>
            <a:ext cx="4539953" cy="113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2144335"/>
            <a:ext cx="16471659" cy="185880"/>
            <a:chOff x="0" y="0"/>
            <a:chExt cx="21962212" cy="24784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1962238" cy="247904"/>
            </a:xfrm>
            <a:custGeom>
              <a:avLst/>
              <a:gdLst/>
              <a:ahLst/>
              <a:cxnLst/>
              <a:rect r="r" b="b" t="t" l="l"/>
              <a:pathLst>
                <a:path h="247904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2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5095" y="2568550"/>
            <a:ext cx="8007058" cy="3176835"/>
            <a:chOff x="0" y="0"/>
            <a:chExt cx="10676077" cy="42357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76128" cy="4235831"/>
            </a:xfrm>
            <a:custGeom>
              <a:avLst/>
              <a:gdLst/>
              <a:ahLst/>
              <a:cxnLst/>
              <a:rect r="r" b="b" t="t" l="l"/>
              <a:pathLst>
                <a:path h="4235831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4235831"/>
                  </a:lnTo>
                  <a:lnTo>
                    <a:pt x="0" y="4235831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58252" y="2921213"/>
            <a:ext cx="494407" cy="48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8252" y="3369288"/>
            <a:ext cx="7320734" cy="28594"/>
            <a:chOff x="0" y="0"/>
            <a:chExt cx="9760979" cy="3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60966" cy="38100"/>
            </a:xfrm>
            <a:custGeom>
              <a:avLst/>
              <a:gdLst/>
              <a:ahLst/>
              <a:cxnLst/>
              <a:rect r="r" b="b" t="t" l="l"/>
              <a:pathLst>
                <a:path h="38100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002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8253" y="3321682"/>
            <a:ext cx="7663891" cy="124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Analyze overall supermarket sales</a:t>
            </a:r>
          </a:p>
          <a:p>
            <a:pPr algn="l">
              <a:lnSpc>
                <a:spcPts val="4913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and revenue patterns.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79696" y="2568550"/>
            <a:ext cx="8007058" cy="3176835"/>
            <a:chOff x="0" y="0"/>
            <a:chExt cx="10676077" cy="4235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76128" cy="4235831"/>
            </a:xfrm>
            <a:custGeom>
              <a:avLst/>
              <a:gdLst/>
              <a:ahLst/>
              <a:cxnLst/>
              <a:rect r="r" b="b" t="t" l="l"/>
              <a:pathLst>
                <a:path h="4235831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4235831"/>
                  </a:lnTo>
                  <a:lnTo>
                    <a:pt x="0" y="4235831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22853" y="2921213"/>
            <a:ext cx="494407" cy="48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22853" y="3373821"/>
            <a:ext cx="7320734" cy="28594"/>
            <a:chOff x="0" y="0"/>
            <a:chExt cx="9760979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60966" cy="38100"/>
            </a:xfrm>
            <a:custGeom>
              <a:avLst/>
              <a:gdLst/>
              <a:ahLst/>
              <a:cxnLst/>
              <a:rect r="r" b="b" t="t" l="l"/>
              <a:pathLst>
                <a:path h="38100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00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22853" y="3321682"/>
            <a:ext cx="7320734" cy="186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Understand customer purchasing behavior based on customer type and gender.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095" y="6202947"/>
            <a:ext cx="8007058" cy="3176988"/>
            <a:chOff x="0" y="0"/>
            <a:chExt cx="10676077" cy="4235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76128" cy="4235958"/>
            </a:xfrm>
            <a:custGeom>
              <a:avLst/>
              <a:gdLst/>
              <a:ahLst/>
              <a:cxnLst/>
              <a:rect r="r" b="b" t="t" l="l"/>
              <a:pathLst>
                <a:path h="4235958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4235958"/>
                  </a:lnTo>
                  <a:lnTo>
                    <a:pt x="0" y="4235958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8252" y="6555610"/>
            <a:ext cx="494407" cy="48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8252" y="7017743"/>
            <a:ext cx="7320734" cy="28594"/>
            <a:chOff x="0" y="0"/>
            <a:chExt cx="9760979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60966" cy="38100"/>
            </a:xfrm>
            <a:custGeom>
              <a:avLst/>
              <a:gdLst/>
              <a:ahLst/>
              <a:cxnLst/>
              <a:rect r="r" b="b" t="t" l="l"/>
              <a:pathLst>
                <a:path h="38100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002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52" y="6956079"/>
            <a:ext cx="7320734" cy="186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Identify patterns across product lines, branches, cities, payment methods, and time.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79696" y="6202947"/>
            <a:ext cx="8007058" cy="3176988"/>
            <a:chOff x="0" y="0"/>
            <a:chExt cx="10676077" cy="4235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6128" cy="4235958"/>
            </a:xfrm>
            <a:custGeom>
              <a:avLst/>
              <a:gdLst/>
              <a:ahLst/>
              <a:cxnLst/>
              <a:rect r="r" b="b" t="t" l="l"/>
              <a:pathLst>
                <a:path h="4235958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4235958"/>
                  </a:lnTo>
                  <a:lnTo>
                    <a:pt x="0" y="4235958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22853" y="6555610"/>
            <a:ext cx="494407" cy="48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22853" y="6998674"/>
            <a:ext cx="7320734" cy="28594"/>
            <a:chOff x="0" y="0"/>
            <a:chExt cx="9760979" cy="381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60966" cy="38100"/>
            </a:xfrm>
            <a:custGeom>
              <a:avLst/>
              <a:gdLst/>
              <a:ahLst/>
              <a:cxnLst/>
              <a:rect r="r" b="b" t="t" l="l"/>
              <a:pathLst>
                <a:path h="38100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002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722853" y="6956079"/>
            <a:ext cx="7320734" cy="186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4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Create meaningful visualizations and derive useful customer and business insights using 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1054560"/>
            <a:ext cx="9155807" cy="113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b="true" sz="8000" spc="-160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Dataset Description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2121865"/>
            <a:ext cx="9326375" cy="2559463"/>
            <a:chOff x="0" y="0"/>
            <a:chExt cx="12435167" cy="34126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35205" cy="3412617"/>
            </a:xfrm>
            <a:custGeom>
              <a:avLst/>
              <a:gdLst/>
              <a:ahLst/>
              <a:cxnLst/>
              <a:rect r="r" b="b" t="t" l="l"/>
              <a:pathLst>
                <a:path h="3412617" w="12435205">
                  <a:moveTo>
                    <a:pt x="0" y="0"/>
                  </a:moveTo>
                  <a:lnTo>
                    <a:pt x="12435205" y="0"/>
                  </a:lnTo>
                  <a:lnTo>
                    <a:pt x="12435205" y="3412617"/>
                  </a:lnTo>
                  <a:lnTo>
                    <a:pt x="0" y="3412617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20124" y="2264921"/>
            <a:ext cx="8716308" cy="225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151" b="true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Dataset:</a:t>
            </a:r>
            <a:r>
              <a:rPr lang="en-US" sz="3151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 Supermarket Sales Dataset</a:t>
            </a:r>
          </a:p>
          <a:p>
            <a:pPr algn="l">
              <a:lnSpc>
                <a:spcPts val="4425"/>
              </a:lnSpc>
            </a:pPr>
            <a:r>
              <a:rPr lang="en-US" sz="3151" b="true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Records:</a:t>
            </a:r>
            <a:r>
              <a:rPr lang="en-US" sz="3151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 1,000</a:t>
            </a:r>
          </a:p>
          <a:p>
            <a:pPr algn="l">
              <a:lnSpc>
                <a:spcPts val="4425"/>
              </a:lnSpc>
            </a:pPr>
            <a:r>
              <a:rPr lang="en-US" sz="3151" b="true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Variables:</a:t>
            </a:r>
            <a:r>
              <a:rPr lang="en-US" sz="3151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 17</a:t>
            </a:r>
          </a:p>
          <a:p>
            <a:pPr algn="l">
              <a:lnSpc>
                <a:spcPts val="4425"/>
              </a:lnSpc>
            </a:pPr>
            <a:r>
              <a:rPr lang="en-US" sz="3151" b="true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Type:</a:t>
            </a:r>
            <a:r>
              <a:rPr lang="en-US" sz="3151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 Transaction-level supermarket sales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5253238"/>
            <a:ext cx="5058966" cy="64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b="true" sz="4503" spc="-90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Important variables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5963517"/>
            <a:ext cx="9326375" cy="175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Branch · City · Customer Type · Gender · Product Line · Unit Price · Quantity · Tax · Total · Date · Time · Payment · COGS · Gross Income · Rating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42728" y="0"/>
            <a:ext cx="6459112" cy="10295039"/>
            <a:chOff x="0" y="0"/>
            <a:chExt cx="8612149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212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612124">
                  <a:moveTo>
                    <a:pt x="0" y="0"/>
                  </a:moveTo>
                  <a:lnTo>
                    <a:pt x="8612124" y="0"/>
                  </a:lnTo>
                  <a:lnTo>
                    <a:pt x="861212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42728" y="0"/>
            <a:ext cx="6459112" cy="10295039"/>
            <a:chOff x="0" y="0"/>
            <a:chExt cx="8612149" cy="1372671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61212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612124">
                  <a:moveTo>
                    <a:pt x="0" y="0"/>
                  </a:moveTo>
                  <a:lnTo>
                    <a:pt x="8612124" y="0"/>
                  </a:lnTo>
                  <a:lnTo>
                    <a:pt x="861212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1094527"/>
            <a:ext cx="5216052" cy="2203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Why This Dataset?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3298231"/>
            <a:ext cx="5216052" cy="185880"/>
            <a:chOff x="0" y="0"/>
            <a:chExt cx="6954736" cy="2478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954774" cy="247904"/>
            </a:xfrm>
            <a:custGeom>
              <a:avLst/>
              <a:gdLst/>
              <a:ahLst/>
              <a:cxnLst/>
              <a:rect r="r" b="b" t="t" l="l"/>
              <a:pathLst>
                <a:path h="247904" w="6954774">
                  <a:moveTo>
                    <a:pt x="0" y="0"/>
                  </a:moveTo>
                  <a:lnTo>
                    <a:pt x="6954774" y="0"/>
                  </a:lnTo>
                  <a:lnTo>
                    <a:pt x="6954774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" t="0" r="-27" b="2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5095" y="3552577"/>
            <a:ext cx="5216052" cy="465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The dataset contains multiple dimensions of supermarket transactions, including:</a:t>
            </a:r>
          </a:p>
          <a:p>
            <a:pPr algn="l">
              <a:lnSpc>
                <a:spcPts val="4633"/>
              </a:lnSpc>
            </a:pPr>
            <a:r>
              <a:rPr lang="en-US" sz="33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Therefore, it is suitable for studying both sales performance and customer insights.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32405" y="0"/>
            <a:ext cx="5170332" cy="2402176"/>
            <a:chOff x="0" y="0"/>
            <a:chExt cx="6893776" cy="3202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37443" y="190710"/>
            <a:ext cx="4865303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Customer information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31508" y="0"/>
            <a:ext cx="5170332" cy="2402176"/>
            <a:chOff x="0" y="0"/>
            <a:chExt cx="6893776" cy="32029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6546" y="190710"/>
            <a:ext cx="4865303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Product information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32405" y="2630957"/>
            <a:ext cx="5170332" cy="2402176"/>
            <a:chOff x="0" y="0"/>
            <a:chExt cx="6893776" cy="3202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37443" y="2821667"/>
            <a:ext cx="4865303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Sales and revenue information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131508" y="2630957"/>
            <a:ext cx="5170332" cy="2402176"/>
            <a:chOff x="0" y="0"/>
            <a:chExt cx="6893776" cy="32029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36546" y="2821667"/>
            <a:ext cx="4865303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Branch and city information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32405" y="5261915"/>
            <a:ext cx="5170332" cy="2402176"/>
            <a:chOff x="0" y="0"/>
            <a:chExt cx="6893776" cy="32029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037443" y="5452615"/>
            <a:ext cx="4865303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Payment information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131508" y="5261915"/>
            <a:ext cx="5170332" cy="2402176"/>
            <a:chOff x="0" y="0"/>
            <a:chExt cx="6893776" cy="32029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93814" cy="3202940"/>
            </a:xfrm>
            <a:custGeom>
              <a:avLst/>
              <a:gdLst/>
              <a:ahLst/>
              <a:cxnLst/>
              <a:rect r="r" b="b" t="t" l="l"/>
              <a:pathLst>
                <a:path h="3202940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436546" y="5452615"/>
            <a:ext cx="4865303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Date and time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32405" y="7892863"/>
            <a:ext cx="10569435" cy="2402176"/>
            <a:chOff x="0" y="0"/>
            <a:chExt cx="14092580" cy="32029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92555" cy="3202940"/>
            </a:xfrm>
            <a:custGeom>
              <a:avLst/>
              <a:gdLst/>
              <a:ahLst/>
              <a:cxnLst/>
              <a:rect r="r" b="b" t="t" l="l"/>
              <a:pathLst>
                <a:path h="3202940" w="14092555">
                  <a:moveTo>
                    <a:pt x="0" y="0"/>
                  </a:moveTo>
                  <a:lnTo>
                    <a:pt x="14092555" y="0"/>
                  </a:lnTo>
                  <a:lnTo>
                    <a:pt x="14092555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9F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037443" y="8083572"/>
            <a:ext cx="10264397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Customer ratings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30001" y="0"/>
            <a:ext cx="5871839" cy="10295039"/>
            <a:chOff x="0" y="0"/>
            <a:chExt cx="7829118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782916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829169">
                  <a:moveTo>
                    <a:pt x="0" y="0"/>
                  </a:moveTo>
                  <a:lnTo>
                    <a:pt x="7829169" y="0"/>
                  </a:lnTo>
                  <a:lnTo>
                    <a:pt x="782916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0" r="-4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1054560"/>
            <a:ext cx="10042823" cy="113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Proposed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096215"/>
            <a:ext cx="9913496" cy="633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Data Import into R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Data Cleaning &amp; Preprocessing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Exploratory Data Analysis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Statistical Analysis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Data Visualization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Customer &amp; Sales Insights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Prediction/Modeling 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1054560"/>
            <a:ext cx="7355979" cy="113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Data Preparation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2121865"/>
            <a:ext cx="16471659" cy="185880"/>
            <a:chOff x="0" y="0"/>
            <a:chExt cx="21962212" cy="24784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1962238" cy="247904"/>
            </a:xfrm>
            <a:custGeom>
              <a:avLst/>
              <a:gdLst/>
              <a:ahLst/>
              <a:cxnLst/>
              <a:rect r="r" b="b" t="t" l="l"/>
              <a:pathLst>
                <a:path h="247904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2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5095" y="2469871"/>
            <a:ext cx="16471659" cy="563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Import dataset into R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Check dataset structure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Check missing values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Check duplicate records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Check incorrect/inconsistent values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Convert variables to appropriate data types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Handle date and time variables</a:t>
            </a:r>
          </a:p>
          <a:p>
            <a:pPr algn="l" marL="724463" indent="-362232" lvl="1">
              <a:lnSpc>
                <a:spcPts val="5615"/>
              </a:lnSpc>
              <a:buAutoNum type="arabicPeriod" startAt="1"/>
            </a:pPr>
            <a:r>
              <a:rPr lang="en-US" sz="3999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Prepare clean data for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4E0D2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357235"/>
            <a:ext cx="16289188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POSSIBLE MODELS FOR SALES &amp; CUSTOMER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898828"/>
            <a:ext cx="16289188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1232D"/>
                </a:solidFill>
                <a:latin typeface="Aptos"/>
                <a:ea typeface="Aptos"/>
                <a:cs typeface="Aptos"/>
                <a:sym typeface="Aptos"/>
              </a:rPr>
              <a:t>Machine learning methods that can extend the analysis in 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1803" y="2932186"/>
            <a:ext cx="4911119" cy="4911119"/>
            <a:chOff x="0" y="0"/>
            <a:chExt cx="6548158" cy="65481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48248" cy="6548248"/>
            </a:xfrm>
            <a:custGeom>
              <a:avLst/>
              <a:gdLst/>
              <a:ahLst/>
              <a:cxnLst/>
              <a:rect r="r" b="b" t="t" l="l"/>
              <a:pathLst>
                <a:path h="6548248" w="6548248">
                  <a:moveTo>
                    <a:pt x="0" y="1091438"/>
                  </a:moveTo>
                  <a:cubicBezTo>
                    <a:pt x="0" y="488569"/>
                    <a:pt x="488569" y="0"/>
                    <a:pt x="1091438" y="0"/>
                  </a:cubicBezTo>
                  <a:lnTo>
                    <a:pt x="5456809" y="0"/>
                  </a:lnTo>
                  <a:cubicBezTo>
                    <a:pt x="6059551" y="0"/>
                    <a:pt x="6548248" y="488569"/>
                    <a:pt x="6548248" y="1091438"/>
                  </a:cubicBezTo>
                  <a:lnTo>
                    <a:pt x="6548248" y="5456809"/>
                  </a:lnTo>
                  <a:cubicBezTo>
                    <a:pt x="6548248" y="6059551"/>
                    <a:pt x="6059678" y="6548248"/>
                    <a:pt x="5456809" y="6548248"/>
                  </a:cubicBezTo>
                  <a:lnTo>
                    <a:pt x="1091438" y="6548248"/>
                  </a:lnTo>
                  <a:cubicBezTo>
                    <a:pt x="488569" y="6548120"/>
                    <a:pt x="0" y="6059551"/>
                    <a:pt x="0" y="5456809"/>
                  </a:cubicBezTo>
                  <a:close/>
                </a:path>
              </a:pathLst>
            </a:custGeom>
            <a:solidFill>
              <a:srgbClr val="FFFFFF"/>
            </a:solidFill>
            <a:ln w="38130" cap="sq">
              <a:solidFill>
                <a:srgbClr val="FADAD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62863" y="3253235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8014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61530" cy="1071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4303" y="4397092"/>
            <a:ext cx="4072404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801439"/>
                </a:solidFill>
                <a:latin typeface="Aptos Bold"/>
                <a:ea typeface="Aptos Bold"/>
                <a:cs typeface="Aptos Bold"/>
                <a:sym typeface="Aptos Bold"/>
              </a:rPr>
              <a:t>LINEAR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4303" y="5605043"/>
            <a:ext cx="400376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1232D"/>
                </a:solidFill>
                <a:latin typeface="Aptos"/>
                <a:ea typeface="Aptos"/>
                <a:cs typeface="Aptos"/>
                <a:sym typeface="Aptos"/>
              </a:rPr>
              <a:t>Predict sales revenue using relevant transaction variables.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2863" y="7069264"/>
            <a:ext cx="1990373" cy="480431"/>
            <a:chOff x="0" y="0"/>
            <a:chExt cx="2653830" cy="6405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3919" cy="640588"/>
            </a:xfrm>
            <a:custGeom>
              <a:avLst/>
              <a:gdLst/>
              <a:ahLst/>
              <a:cxnLst/>
              <a:rect r="r" b="b" t="t" l="l"/>
              <a:pathLst>
                <a:path h="640588" w="2653919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2547112" y="0"/>
                  </a:lnTo>
                  <a:cubicBezTo>
                    <a:pt x="2606040" y="0"/>
                    <a:pt x="2653919" y="47752"/>
                    <a:pt x="2653919" y="106807"/>
                  </a:cubicBezTo>
                  <a:lnTo>
                    <a:pt x="2653919" y="533781"/>
                  </a:lnTo>
                  <a:cubicBezTo>
                    <a:pt x="2653919" y="592709"/>
                    <a:pt x="2606167" y="640588"/>
                    <a:pt x="2547112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FADAD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653830" cy="64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4E0D2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Prediction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67774" y="2932186"/>
            <a:ext cx="4911119" cy="4911119"/>
            <a:chOff x="0" y="0"/>
            <a:chExt cx="6548158" cy="6548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48248" cy="6548248"/>
            </a:xfrm>
            <a:custGeom>
              <a:avLst/>
              <a:gdLst/>
              <a:ahLst/>
              <a:cxnLst/>
              <a:rect r="r" b="b" t="t" l="l"/>
              <a:pathLst>
                <a:path h="6548248" w="6548248">
                  <a:moveTo>
                    <a:pt x="0" y="1091438"/>
                  </a:moveTo>
                  <a:cubicBezTo>
                    <a:pt x="0" y="488569"/>
                    <a:pt x="488569" y="0"/>
                    <a:pt x="1091438" y="0"/>
                  </a:cubicBezTo>
                  <a:lnTo>
                    <a:pt x="5456809" y="0"/>
                  </a:lnTo>
                  <a:cubicBezTo>
                    <a:pt x="6059551" y="0"/>
                    <a:pt x="6548248" y="488569"/>
                    <a:pt x="6548248" y="1091438"/>
                  </a:cubicBezTo>
                  <a:lnTo>
                    <a:pt x="6548248" y="5456809"/>
                  </a:lnTo>
                  <a:cubicBezTo>
                    <a:pt x="6548248" y="6059551"/>
                    <a:pt x="6059678" y="6548248"/>
                    <a:pt x="5456809" y="6548248"/>
                  </a:cubicBezTo>
                  <a:lnTo>
                    <a:pt x="1091438" y="6548248"/>
                  </a:lnTo>
                  <a:cubicBezTo>
                    <a:pt x="488569" y="6548120"/>
                    <a:pt x="0" y="6059551"/>
                    <a:pt x="0" y="5456809"/>
                  </a:cubicBezTo>
                  <a:close/>
                </a:path>
              </a:pathLst>
            </a:custGeom>
            <a:solidFill>
              <a:srgbClr val="FFFFFF"/>
            </a:solidFill>
            <a:ln w="38130" cap="sq">
              <a:solidFill>
                <a:srgbClr val="FADAD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88824" y="3253235"/>
            <a:ext cx="796147" cy="796147"/>
            <a:chOff x="0" y="0"/>
            <a:chExt cx="1061530" cy="10615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80143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61530" cy="1071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80264" y="4397092"/>
            <a:ext cx="4072404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801439"/>
                </a:solidFill>
                <a:latin typeface="Aptos Bold"/>
                <a:ea typeface="Aptos Bold"/>
                <a:cs typeface="Aptos Bold"/>
                <a:sym typeface="Aptos Bold"/>
              </a:rPr>
              <a:t>DECISION TREE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80264" y="5605043"/>
            <a:ext cx="400376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1232D"/>
                </a:solidFill>
                <a:latin typeface="Aptos"/>
                <a:ea typeface="Aptos"/>
                <a:cs typeface="Aptos"/>
                <a:sym typeface="Aptos"/>
              </a:rPr>
              <a:t>Explore which factors may influence sales outcomes.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88824" y="7069264"/>
            <a:ext cx="1990373" cy="480431"/>
            <a:chOff x="0" y="0"/>
            <a:chExt cx="2653830" cy="640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3919" cy="640588"/>
            </a:xfrm>
            <a:custGeom>
              <a:avLst/>
              <a:gdLst/>
              <a:ahLst/>
              <a:cxnLst/>
              <a:rect r="r" b="b" t="t" l="l"/>
              <a:pathLst>
                <a:path h="640588" w="2653919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2547112" y="0"/>
                  </a:lnTo>
                  <a:cubicBezTo>
                    <a:pt x="2606040" y="0"/>
                    <a:pt x="2653919" y="47752"/>
                    <a:pt x="2653919" y="106807"/>
                  </a:cubicBezTo>
                  <a:lnTo>
                    <a:pt x="2653919" y="533781"/>
                  </a:lnTo>
                  <a:cubicBezTo>
                    <a:pt x="2653919" y="592709"/>
                    <a:pt x="2606167" y="640588"/>
                    <a:pt x="2547112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FADAD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653830" cy="64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4E0D2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93744" y="2932186"/>
            <a:ext cx="4911119" cy="4911119"/>
            <a:chOff x="0" y="0"/>
            <a:chExt cx="6548158" cy="65481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48248" cy="6548248"/>
            </a:xfrm>
            <a:custGeom>
              <a:avLst/>
              <a:gdLst/>
              <a:ahLst/>
              <a:cxnLst/>
              <a:rect r="r" b="b" t="t" l="l"/>
              <a:pathLst>
                <a:path h="6548248" w="6548248">
                  <a:moveTo>
                    <a:pt x="0" y="1091438"/>
                  </a:moveTo>
                  <a:cubicBezTo>
                    <a:pt x="0" y="488569"/>
                    <a:pt x="488569" y="0"/>
                    <a:pt x="1091438" y="0"/>
                  </a:cubicBezTo>
                  <a:lnTo>
                    <a:pt x="5456809" y="0"/>
                  </a:lnTo>
                  <a:cubicBezTo>
                    <a:pt x="6059551" y="0"/>
                    <a:pt x="6548248" y="488569"/>
                    <a:pt x="6548248" y="1091438"/>
                  </a:cubicBezTo>
                  <a:lnTo>
                    <a:pt x="6548248" y="5456809"/>
                  </a:lnTo>
                  <a:cubicBezTo>
                    <a:pt x="6548248" y="6059551"/>
                    <a:pt x="6059678" y="6548248"/>
                    <a:pt x="5456809" y="6548248"/>
                  </a:cubicBezTo>
                  <a:lnTo>
                    <a:pt x="1091438" y="6548248"/>
                  </a:lnTo>
                  <a:cubicBezTo>
                    <a:pt x="488569" y="6548120"/>
                    <a:pt x="0" y="6059551"/>
                    <a:pt x="0" y="5456809"/>
                  </a:cubicBezTo>
                  <a:close/>
                </a:path>
              </a:pathLst>
            </a:custGeom>
            <a:solidFill>
              <a:srgbClr val="FFFFFF"/>
            </a:solidFill>
            <a:ln w="38130" cap="sq">
              <a:solidFill>
                <a:srgbClr val="FADAD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914794" y="3253235"/>
            <a:ext cx="796147" cy="796147"/>
            <a:chOff x="0" y="0"/>
            <a:chExt cx="1061530" cy="10615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80143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61530" cy="1071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006234" y="4397092"/>
            <a:ext cx="4072404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801439"/>
                </a:solidFill>
                <a:latin typeface="Aptos Bold"/>
                <a:ea typeface="Aptos Bold"/>
                <a:cs typeface="Aptos Bold"/>
                <a:sym typeface="Aptos Bold"/>
              </a:rPr>
              <a:t>K-MEANS CLUSTERING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6234" y="5605043"/>
            <a:ext cx="4003767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1232D"/>
                </a:solidFill>
                <a:latin typeface="Aptos"/>
                <a:ea typeface="Aptos"/>
                <a:cs typeface="Aptos"/>
                <a:sym typeface="Aptos"/>
              </a:rPr>
              <a:t>Group customers with similar purchasing patterns.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14794" y="7069264"/>
            <a:ext cx="1990373" cy="480431"/>
            <a:chOff x="0" y="0"/>
            <a:chExt cx="2653830" cy="6405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53919" cy="640588"/>
            </a:xfrm>
            <a:custGeom>
              <a:avLst/>
              <a:gdLst/>
              <a:ahLst/>
              <a:cxnLst/>
              <a:rect r="r" b="b" t="t" l="l"/>
              <a:pathLst>
                <a:path h="640588" w="2653919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2547112" y="0"/>
                  </a:lnTo>
                  <a:cubicBezTo>
                    <a:pt x="2606040" y="0"/>
                    <a:pt x="2653919" y="47752"/>
                    <a:pt x="2653919" y="106807"/>
                  </a:cubicBezTo>
                  <a:lnTo>
                    <a:pt x="2653919" y="533781"/>
                  </a:lnTo>
                  <a:cubicBezTo>
                    <a:pt x="2653919" y="592709"/>
                    <a:pt x="2606167" y="640588"/>
                    <a:pt x="2547112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FADAD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653830" cy="64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4E0D2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Segmentation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872" y="8304667"/>
            <a:ext cx="16403431" cy="988324"/>
            <a:chOff x="0" y="0"/>
            <a:chExt cx="21871242" cy="13177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7117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1871178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1651595" y="0"/>
                  </a:lnTo>
                  <a:cubicBezTo>
                    <a:pt x="21772880" y="0"/>
                    <a:pt x="21871178" y="98298"/>
                    <a:pt x="21871178" y="219583"/>
                  </a:cubicBezTo>
                  <a:lnTo>
                    <a:pt x="21871178" y="1098169"/>
                  </a:lnTo>
                  <a:cubicBezTo>
                    <a:pt x="21871178" y="1219454"/>
                    <a:pt x="21772880" y="1317752"/>
                    <a:pt x="21651595" y="1317752"/>
                  </a:cubicBezTo>
                  <a:lnTo>
                    <a:pt x="219583" y="1317752"/>
                  </a:lnTo>
                  <a:cubicBezTo>
                    <a:pt x="98298" y="1317752"/>
                    <a:pt x="0" y="1219454"/>
                    <a:pt x="0" y="1098169"/>
                  </a:cubicBezTo>
                  <a:close/>
                </a:path>
              </a:pathLst>
            </a:custGeom>
            <a:solidFill>
              <a:srgbClr val="FADAD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1871242" cy="132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i="true">
                  <a:solidFill>
                    <a:srgbClr val="4E0D25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Note: These are proposed models; the current case study PPT does not report trained models or prediction results.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993058"/>
            <a:ext cx="18301840" cy="109814"/>
            <a:chOff x="0" y="0"/>
            <a:chExt cx="24402453" cy="1464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801439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1054560"/>
            <a:ext cx="14296132" cy="113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8000" spc="-16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Planned Visualizations &amp;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2125285"/>
            <a:ext cx="4003529" cy="3512858"/>
            <a:chOff x="0" y="0"/>
            <a:chExt cx="5338039" cy="46838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8064" cy="4683760"/>
            </a:xfrm>
            <a:custGeom>
              <a:avLst/>
              <a:gdLst/>
              <a:ahLst/>
              <a:cxnLst/>
              <a:rect r="r" b="b" t="t" l="l"/>
              <a:pathLst>
                <a:path h="4683760" w="5338064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994910" y="0"/>
                  </a:lnTo>
                  <a:cubicBezTo>
                    <a:pt x="5184394" y="0"/>
                    <a:pt x="5338064" y="153670"/>
                    <a:pt x="5338064" y="343154"/>
                  </a:cubicBezTo>
                  <a:lnTo>
                    <a:pt x="5338064" y="4340606"/>
                  </a:lnTo>
                  <a:cubicBezTo>
                    <a:pt x="5338064" y="4530090"/>
                    <a:pt x="5184394" y="4683760"/>
                    <a:pt x="4994910" y="4683760"/>
                  </a:cubicBezTo>
                  <a:lnTo>
                    <a:pt x="343154" y="4683760"/>
                  </a:lnTo>
                  <a:cubicBezTo>
                    <a:pt x="153670" y="4683760"/>
                    <a:pt x="0" y="4530217"/>
                    <a:pt x="0" y="4340606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3490" y="2425560"/>
            <a:ext cx="714918" cy="714937"/>
            <a:chOff x="0" y="0"/>
            <a:chExt cx="953224" cy="953249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2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1995" y="3302603"/>
            <a:ext cx="3469719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Product-line sales → Bar Chart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47396" y="2125285"/>
            <a:ext cx="3889143" cy="3512858"/>
            <a:chOff x="0" y="0"/>
            <a:chExt cx="5185524" cy="46838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85537" cy="4683760"/>
            </a:xfrm>
            <a:custGeom>
              <a:avLst/>
              <a:gdLst/>
              <a:ahLst/>
              <a:cxnLst/>
              <a:rect r="r" b="b" t="t" l="l"/>
              <a:pathLst>
                <a:path h="4683760" w="5185537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842383" y="0"/>
                  </a:lnTo>
                  <a:cubicBezTo>
                    <a:pt x="5031867" y="0"/>
                    <a:pt x="5185537" y="153670"/>
                    <a:pt x="5185537" y="343154"/>
                  </a:cubicBezTo>
                  <a:lnTo>
                    <a:pt x="5185537" y="4340606"/>
                  </a:lnTo>
                  <a:cubicBezTo>
                    <a:pt x="5185537" y="4530090"/>
                    <a:pt x="5031867" y="4683760"/>
                    <a:pt x="4842383" y="4683760"/>
                  </a:cubicBezTo>
                  <a:lnTo>
                    <a:pt x="343154" y="4683760"/>
                  </a:lnTo>
                  <a:cubicBezTo>
                    <a:pt x="153670" y="4683760"/>
                    <a:pt x="0" y="4530217"/>
                    <a:pt x="0" y="4340606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5790" y="2425560"/>
            <a:ext cx="714918" cy="714937"/>
            <a:chOff x="0" y="0"/>
            <a:chExt cx="953224" cy="95324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2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414296" y="3302603"/>
            <a:ext cx="3355334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Branch comparison → Bar Chart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5310" y="2125285"/>
            <a:ext cx="3889143" cy="3512858"/>
            <a:chOff x="0" y="0"/>
            <a:chExt cx="5185524" cy="46838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85537" cy="4683760"/>
            </a:xfrm>
            <a:custGeom>
              <a:avLst/>
              <a:gdLst/>
              <a:ahLst/>
              <a:cxnLst/>
              <a:rect r="r" b="b" t="t" l="l"/>
              <a:pathLst>
                <a:path h="4683760" w="5185537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842383" y="0"/>
                  </a:lnTo>
                  <a:cubicBezTo>
                    <a:pt x="5031867" y="0"/>
                    <a:pt x="5185537" y="153670"/>
                    <a:pt x="5185537" y="343154"/>
                  </a:cubicBezTo>
                  <a:lnTo>
                    <a:pt x="5185537" y="4340606"/>
                  </a:lnTo>
                  <a:cubicBezTo>
                    <a:pt x="5185537" y="4530090"/>
                    <a:pt x="5031867" y="4683760"/>
                    <a:pt x="4842383" y="4683760"/>
                  </a:cubicBezTo>
                  <a:lnTo>
                    <a:pt x="343154" y="4683760"/>
                  </a:lnTo>
                  <a:cubicBezTo>
                    <a:pt x="153670" y="4683760"/>
                    <a:pt x="0" y="4530217"/>
                    <a:pt x="0" y="4340606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3705" y="2425560"/>
            <a:ext cx="714918" cy="714937"/>
            <a:chOff x="0" y="0"/>
            <a:chExt cx="953224" cy="95324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2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32210" y="3302603"/>
            <a:ext cx="3355334" cy="15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Customer type comparison </a:t>
            </a:r>
          </a:p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→ Donut/Bar Chart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83225" y="2125285"/>
            <a:ext cx="4003529" cy="3512858"/>
            <a:chOff x="0" y="0"/>
            <a:chExt cx="5338039" cy="46838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8064" cy="4683760"/>
            </a:xfrm>
            <a:custGeom>
              <a:avLst/>
              <a:gdLst/>
              <a:ahLst/>
              <a:cxnLst/>
              <a:rect r="r" b="b" t="t" l="l"/>
              <a:pathLst>
                <a:path h="4683760" w="5338064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994910" y="0"/>
                  </a:lnTo>
                  <a:cubicBezTo>
                    <a:pt x="5184394" y="0"/>
                    <a:pt x="5338064" y="153670"/>
                    <a:pt x="5338064" y="343154"/>
                  </a:cubicBezTo>
                  <a:lnTo>
                    <a:pt x="5338064" y="4340606"/>
                  </a:lnTo>
                  <a:cubicBezTo>
                    <a:pt x="5338064" y="4530090"/>
                    <a:pt x="5184394" y="4683760"/>
                    <a:pt x="4994910" y="4683760"/>
                  </a:cubicBezTo>
                  <a:lnTo>
                    <a:pt x="343154" y="4683760"/>
                  </a:lnTo>
                  <a:cubicBezTo>
                    <a:pt x="153670" y="4683760"/>
                    <a:pt x="0" y="4530217"/>
                    <a:pt x="0" y="4340606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21610" y="2425560"/>
            <a:ext cx="714918" cy="714937"/>
            <a:chOff x="0" y="0"/>
            <a:chExt cx="953224" cy="95324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2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650125" y="3302603"/>
            <a:ext cx="3469719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Gender analysis </a:t>
            </a:r>
          </a:p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→ Bar Chart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5095" y="5866924"/>
            <a:ext cx="4003529" cy="3513001"/>
            <a:chOff x="0" y="0"/>
            <a:chExt cx="5338039" cy="46840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8064" cy="4684014"/>
            </a:xfrm>
            <a:custGeom>
              <a:avLst/>
              <a:gdLst/>
              <a:ahLst/>
              <a:cxnLst/>
              <a:rect r="r" b="b" t="t" l="l"/>
              <a:pathLst>
                <a:path h="4684014" w="5338064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994910" y="0"/>
                  </a:lnTo>
                  <a:cubicBezTo>
                    <a:pt x="5184394" y="0"/>
                    <a:pt x="5338064" y="153670"/>
                    <a:pt x="5338064" y="343154"/>
                  </a:cubicBezTo>
                  <a:lnTo>
                    <a:pt x="5338064" y="4340860"/>
                  </a:lnTo>
                  <a:cubicBezTo>
                    <a:pt x="5338064" y="4530344"/>
                    <a:pt x="5184394" y="4684014"/>
                    <a:pt x="4994910" y="4684014"/>
                  </a:cubicBezTo>
                  <a:lnTo>
                    <a:pt x="343154" y="4684014"/>
                  </a:lnTo>
                  <a:cubicBezTo>
                    <a:pt x="153670" y="4684014"/>
                    <a:pt x="0" y="4530344"/>
                    <a:pt x="0" y="4340860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53490" y="6167199"/>
            <a:ext cx="714918" cy="714937"/>
            <a:chOff x="0" y="0"/>
            <a:chExt cx="953224" cy="953249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2" b="1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1995" y="7044242"/>
            <a:ext cx="3469719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Sales over time </a:t>
            </a:r>
          </a:p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→ Line Chart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47396" y="5866924"/>
            <a:ext cx="3889143" cy="3513001"/>
            <a:chOff x="0" y="0"/>
            <a:chExt cx="5185524" cy="46840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5537" cy="4684014"/>
            </a:xfrm>
            <a:custGeom>
              <a:avLst/>
              <a:gdLst/>
              <a:ahLst/>
              <a:cxnLst/>
              <a:rect r="r" b="b" t="t" l="l"/>
              <a:pathLst>
                <a:path h="4684014" w="5185537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842383" y="0"/>
                  </a:lnTo>
                  <a:cubicBezTo>
                    <a:pt x="5031867" y="0"/>
                    <a:pt x="5185537" y="153670"/>
                    <a:pt x="5185537" y="343154"/>
                  </a:cubicBezTo>
                  <a:lnTo>
                    <a:pt x="5185537" y="4340860"/>
                  </a:lnTo>
                  <a:cubicBezTo>
                    <a:pt x="5185537" y="4530344"/>
                    <a:pt x="5031867" y="4684014"/>
                    <a:pt x="4842383" y="4684014"/>
                  </a:cubicBezTo>
                  <a:lnTo>
                    <a:pt x="343154" y="4684014"/>
                  </a:lnTo>
                  <a:cubicBezTo>
                    <a:pt x="153670" y="4684014"/>
                    <a:pt x="0" y="4530344"/>
                    <a:pt x="0" y="4340860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85790" y="6167199"/>
            <a:ext cx="714918" cy="714937"/>
            <a:chOff x="0" y="0"/>
            <a:chExt cx="953224" cy="953249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2" b="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485790" y="7044242"/>
            <a:ext cx="3417268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Quantity distribution → Histogram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65310" y="5866924"/>
            <a:ext cx="3889143" cy="3513001"/>
            <a:chOff x="0" y="0"/>
            <a:chExt cx="5185524" cy="46840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85537" cy="4684014"/>
            </a:xfrm>
            <a:custGeom>
              <a:avLst/>
              <a:gdLst/>
              <a:ahLst/>
              <a:cxnLst/>
              <a:rect r="r" b="b" t="t" l="l"/>
              <a:pathLst>
                <a:path h="4684014" w="5185537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842383" y="0"/>
                  </a:lnTo>
                  <a:cubicBezTo>
                    <a:pt x="5031867" y="0"/>
                    <a:pt x="5185537" y="153670"/>
                    <a:pt x="5185537" y="343154"/>
                  </a:cubicBezTo>
                  <a:lnTo>
                    <a:pt x="5185537" y="4340860"/>
                  </a:lnTo>
                  <a:cubicBezTo>
                    <a:pt x="5185537" y="4530344"/>
                    <a:pt x="5031867" y="4684014"/>
                    <a:pt x="4842383" y="4684014"/>
                  </a:cubicBezTo>
                  <a:lnTo>
                    <a:pt x="343154" y="4684014"/>
                  </a:lnTo>
                  <a:cubicBezTo>
                    <a:pt x="153670" y="4684014"/>
                    <a:pt x="0" y="4530344"/>
                    <a:pt x="0" y="4340860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3705" y="6167199"/>
            <a:ext cx="714918" cy="714937"/>
            <a:chOff x="0" y="0"/>
            <a:chExt cx="953224" cy="953249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2" b="1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532210" y="7044242"/>
            <a:ext cx="3622243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Rating analysis </a:t>
            </a:r>
          </a:p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→ Box Plot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383225" y="5866924"/>
            <a:ext cx="4003529" cy="3513001"/>
            <a:chOff x="0" y="0"/>
            <a:chExt cx="5338039" cy="468400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38064" cy="4684014"/>
            </a:xfrm>
            <a:custGeom>
              <a:avLst/>
              <a:gdLst/>
              <a:ahLst/>
              <a:cxnLst/>
              <a:rect r="r" b="b" t="t" l="l"/>
              <a:pathLst>
                <a:path h="4684014" w="5338064">
                  <a:moveTo>
                    <a:pt x="0" y="343154"/>
                  </a:moveTo>
                  <a:cubicBezTo>
                    <a:pt x="0" y="153670"/>
                    <a:pt x="153670" y="0"/>
                    <a:pt x="343154" y="0"/>
                  </a:cubicBezTo>
                  <a:lnTo>
                    <a:pt x="4994910" y="0"/>
                  </a:lnTo>
                  <a:cubicBezTo>
                    <a:pt x="5184394" y="0"/>
                    <a:pt x="5338064" y="153670"/>
                    <a:pt x="5338064" y="343154"/>
                  </a:cubicBezTo>
                  <a:lnTo>
                    <a:pt x="5338064" y="4340860"/>
                  </a:lnTo>
                  <a:cubicBezTo>
                    <a:pt x="5338064" y="4530344"/>
                    <a:pt x="5184394" y="4684014"/>
                    <a:pt x="4994910" y="4684014"/>
                  </a:cubicBezTo>
                  <a:lnTo>
                    <a:pt x="343154" y="4684014"/>
                  </a:lnTo>
                  <a:cubicBezTo>
                    <a:pt x="153670" y="4684014"/>
                    <a:pt x="0" y="4530344"/>
                    <a:pt x="0" y="4340860"/>
                  </a:cubicBezTo>
                  <a:close/>
                </a:path>
              </a:pathLst>
            </a:custGeom>
            <a:solidFill>
              <a:srgbClr val="FFF9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1610" y="6167199"/>
            <a:ext cx="714918" cy="714937"/>
            <a:chOff x="0" y="0"/>
            <a:chExt cx="953224" cy="95324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53262" cy="953262"/>
            </a:xfrm>
            <a:custGeom>
              <a:avLst/>
              <a:gdLst/>
              <a:ahLst/>
              <a:cxnLst/>
              <a:rect r="r" b="b" t="t" l="l"/>
              <a:pathLst>
                <a:path h="953262" w="953262">
                  <a:moveTo>
                    <a:pt x="0" y="0"/>
                  </a:moveTo>
                  <a:lnTo>
                    <a:pt x="953262" y="0"/>
                  </a:lnTo>
                  <a:lnTo>
                    <a:pt x="953262" y="953262"/>
                  </a:lnTo>
                  <a:lnTo>
                    <a:pt x="0" y="953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2" b="1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650125" y="7044242"/>
            <a:ext cx="3469719" cy="106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Payment method </a:t>
            </a:r>
          </a:p>
          <a:p>
            <a:pPr algn="l">
              <a:lnSpc>
                <a:spcPts val="4212"/>
              </a:lnSpc>
            </a:pPr>
            <a:r>
              <a:rPr lang="en-US" sz="3000">
                <a:solidFill>
                  <a:srgbClr val="800020"/>
                </a:solidFill>
                <a:latin typeface="Arimo"/>
                <a:ea typeface="Arimo"/>
                <a:cs typeface="Arimo"/>
                <a:sym typeface="Arimo"/>
              </a:rPr>
              <a:t>→ Bar/Donut Chart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3E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3820" y="4490085"/>
            <a:ext cx="7320360" cy="141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9999" spc="-199">
                <a:solidFill>
                  <a:srgbClr val="80002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DAHXWA1pJrs</dc:identifier>
  <dcterms:modified xsi:type="dcterms:W3CDTF">2011-08-01T06:04:30Z</dcterms:modified>
  <cp:revision>1</cp:revision>
  <dc:title>Student Name: N. Mukunda Rao Roll No : 160124771051 Course : Artificial Intelligence and Data Science Date : 8 October 2026</dc:title>
</cp:coreProperties>
</file>